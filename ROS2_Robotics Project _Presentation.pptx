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98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09728" cy="51435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MAI605  ·  Robotic Systems (ROS2)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1440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20440" y="5486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520440" y="111556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· Scan · Place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520440" y="1737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 Cell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3520440" y="245059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integrated ROS 2 manipulation pipeline combining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planning · QR perception · autonomous sorting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20440" y="3200400"/>
            <a:ext cx="51206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4238410"/>
            <a:ext cx="5120640" cy="46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Ali         |  ID 202512707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Maitha Alghfeli  |  ID 202512976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20440" y="3779984"/>
            <a:ext cx="512064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Omar Osama </a:t>
            </a:r>
            <a:r>
              <a:rPr lang="en-US" sz="1100" dirty="0" err="1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Shalash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30 April -  2026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9835" y="2743200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EBF5FB"/>
          </a:solidFill>
          <a:ln/>
        </p:spPr>
      </p:sp>
      <p:sp>
        <p:nvSpPr>
          <p:cNvPr id="15" name="Text 12"/>
          <p:cNvSpPr/>
          <p:nvPr/>
        </p:nvSpPr>
        <p:spPr>
          <a:xfrm>
            <a:off x="789835" y="27432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</a:rPr>
              <a:t>ROS 2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631083" y="2743200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EBF5FB"/>
          </a:solidFill>
          <a:ln/>
        </p:spPr>
      </p:sp>
      <p:sp>
        <p:nvSpPr>
          <p:cNvPr id="17" name="Text 14"/>
          <p:cNvSpPr/>
          <p:nvPr/>
        </p:nvSpPr>
        <p:spPr>
          <a:xfrm>
            <a:off x="1631083" y="27432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</a:rPr>
              <a:t>MoveIt 2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77240" y="311154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EBF5F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1115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</a:rPr>
              <a:t>Gazebo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618488" y="311154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EBF5FB"/>
          </a:solidFill>
          <a:ln/>
        </p:spPr>
      </p:sp>
      <p:sp>
        <p:nvSpPr>
          <p:cNvPr id="21" name="Text 18"/>
          <p:cNvSpPr/>
          <p:nvPr/>
        </p:nvSpPr>
        <p:spPr>
          <a:xfrm>
            <a:off x="1618488" y="31115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</a:rPr>
              <a:t>zbar_ros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77240" y="3515394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EBF5F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51539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</a:rPr>
              <a:t>KDL IK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618488" y="3515394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EBF5FB"/>
          </a:solidFill>
          <a:ln/>
        </p:spPr>
      </p:sp>
      <p:sp>
        <p:nvSpPr>
          <p:cNvPr id="25" name="Text 22"/>
          <p:cNvSpPr/>
          <p:nvPr/>
        </p:nvSpPr>
        <p:spPr>
          <a:xfrm>
            <a:off x="1618488" y="351539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</a:rPr>
              <a:t>OMPL</a:t>
            </a:r>
            <a:endParaRPr lang="en-US" sz="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5DE538-D9CC-4FFA-8B19-6D898E60F145}"/>
              </a:ext>
            </a:extLst>
          </p:cNvPr>
          <p:cNvSpPr txBox="1"/>
          <p:nvPr/>
        </p:nvSpPr>
        <p:spPr>
          <a:xfrm>
            <a:off x="3406906" y="33307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MAI605 Course Project I — ROS 2 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Description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 and why it was built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382219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6-DOF robot arm picks a QR-tagged object from a fixed station, lifts it to a safe height, carries it to a scan station, decodes the QR code, and places the object into the correct sorting bin — then returns home and repeats.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3913632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0545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" y="2798064"/>
            <a:ext cx="4023360" cy="384048"/>
          </a:xfrm>
          <a:prstGeom prst="rect">
            <a:avLst/>
          </a:prstGeom>
          <a:solidFill>
            <a:srgbClr val="EBF5F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88036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096" y="2834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993392" y="2834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planning &amp; trajectory execution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3192" y="3200400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8269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8096" y="3236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Classic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993392" y="32369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simulation &amp; world environment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93192" y="3602736"/>
            <a:ext cx="4023360" cy="384048"/>
          </a:xfrm>
          <a:prstGeom prst="rect">
            <a:avLst/>
          </a:prstGeom>
          <a:solidFill>
            <a:srgbClr val="EBF5F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6850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8096" y="3639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ros2_control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993392" y="36393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Hz joint trajectory controllers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93192" y="4005072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08736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" y="4041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zbar_ros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993392" y="4041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QR code decoding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93192" y="4407408"/>
            <a:ext cx="4023360" cy="384048"/>
          </a:xfrm>
          <a:prstGeom prst="rect">
            <a:avLst/>
          </a:prstGeom>
          <a:solidFill>
            <a:srgbClr val="EBF5FB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48970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8096" y="44439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993392" y="4443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orchestrates all 10 stages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663440" y="1115568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663440" y="1115568"/>
            <a:ext cx="54864" cy="382219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3" name="Text 26"/>
          <p:cNvSpPr/>
          <p:nvPr/>
        </p:nvSpPr>
        <p:spPr>
          <a:xfrm>
            <a:off x="4809744" y="120700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773168" y="1627632"/>
            <a:ext cx="292608" cy="292608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35" name="Text 28"/>
          <p:cNvSpPr/>
          <p:nvPr/>
        </p:nvSpPr>
        <p:spPr>
          <a:xfrm>
            <a:off x="4773168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138928" y="153619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fully integrated ROS 2 manipulation system with at least 5 DOF combining perception, planning, and control.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4773168" y="2057400"/>
            <a:ext cx="3986784" cy="10973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38" name="Shape 31"/>
          <p:cNvSpPr/>
          <p:nvPr/>
        </p:nvSpPr>
        <p:spPr>
          <a:xfrm>
            <a:off x="4773168" y="2167128"/>
            <a:ext cx="292608" cy="292608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39" name="Text 32"/>
          <p:cNvSpPr/>
          <p:nvPr/>
        </p:nvSpPr>
        <p:spPr>
          <a:xfrm>
            <a:off x="4773168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5138928" y="207568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URDF/Xacro robot model and configure the MoveIt 2 planning environment with named states and collision geometry.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4773168" y="2596896"/>
            <a:ext cx="3986784" cy="10973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42" name="Shape 35"/>
          <p:cNvSpPr/>
          <p:nvPr/>
        </p:nvSpPr>
        <p:spPr>
          <a:xfrm>
            <a:off x="4773168" y="2706624"/>
            <a:ext cx="292608" cy="292608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43" name="Text 36"/>
          <p:cNvSpPr/>
          <p:nvPr/>
        </p:nvSpPr>
        <p:spPr>
          <a:xfrm>
            <a:off x="4773168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5138928" y="261518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collision-free trajectories for approach, grasp, lift, scan, and placement motions using OMPL planners.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4773168" y="3136392"/>
            <a:ext cx="3986784" cy="10973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46" name="Shape 39"/>
          <p:cNvSpPr/>
          <p:nvPr/>
        </p:nvSpPr>
        <p:spPr>
          <a:xfrm>
            <a:off x="4773168" y="3246120"/>
            <a:ext cx="292608" cy="292608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47" name="Text 40"/>
          <p:cNvSpPr/>
          <p:nvPr/>
        </p:nvSpPr>
        <p:spPr>
          <a:xfrm>
            <a:off x="4773168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5138928" y="315468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QR perception via zbar_ros and route decoded payloads to the correct destination bin.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4773168" y="3675888"/>
            <a:ext cx="3986784" cy="10973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0" name="Shape 43"/>
          <p:cNvSpPr/>
          <p:nvPr/>
        </p:nvSpPr>
        <p:spPr>
          <a:xfrm>
            <a:off x="4773168" y="3785616"/>
            <a:ext cx="292608" cy="292608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51" name="Text 44"/>
          <p:cNvSpPr/>
          <p:nvPr/>
        </p:nvSpPr>
        <p:spPr>
          <a:xfrm>
            <a:off x="4773168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5138928" y="369417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modular ROS 2 architecture — clean nodes, topics, services, parameters, and launch files.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4773168" y="4215384"/>
            <a:ext cx="3986784" cy="10973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4" name="Shape 47"/>
          <p:cNvSpPr/>
          <p:nvPr/>
        </p:nvSpPr>
        <p:spPr>
          <a:xfrm>
            <a:off x="4773168" y="4325112"/>
            <a:ext cx="292608" cy="292608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55" name="Text 48"/>
          <p:cNvSpPr/>
          <p:nvPr/>
        </p:nvSpPr>
        <p:spPr>
          <a:xfrm>
            <a:off x="4773168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5138928" y="423367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end-to-end system performance through Gazebo simulation with full documented evidence.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autonomous sorting cell — from steel fixture to sorted bin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3520440"/>
          </a:xfrm>
          <a:prstGeom prst="rect">
            <a:avLst/>
          </a:prstGeom>
          <a:solidFill>
            <a:srgbClr val="1B4F7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870" y="1325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1938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6-DOF Robot Arm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8056" y="2322576"/>
            <a:ext cx="24505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URDF/Xacro model with 6 revolute joints, 1 prismatic gripper, and a wrist-mounted camera frame. Fully integrated with ros2_control at 100 Hz.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43000"/>
            <a:ext cx="54864" cy="35204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230" y="13258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38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Perception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28416" y="2322576"/>
            <a:ext cx="24505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zbar_ros decodes QR-tagged objects at the scan station. A custom bridge normalizes and deduplicates the payload before publishing to downstream nodes.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14300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143000"/>
            <a:ext cx="54864" cy="3520440"/>
          </a:xfrm>
          <a:prstGeom prst="rect">
            <a:avLst/>
          </a:prstGeom>
          <a:solidFill>
            <a:srgbClr val="148F7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590" y="13258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1938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Sorting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08776" y="2322576"/>
            <a:ext cx="24505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state machine drives 10 discrete stages — pick, lift, scan, decide, place, return — with layered fallback strategies at every step.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66344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EBF5FB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F72"/>
                </a:solidFill>
              </a:rPr>
              <a:t>8  </a:t>
            </a:r>
            <a:r>
              <a:rPr lang="en-US" sz="1000" dirty="0">
                <a:solidFill>
                  <a:srgbClr val="5D6D7E"/>
                </a:solidFill>
              </a:rPr>
              <a:t>ROS 2 Packages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2578608" y="466344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EBF5FB"/>
          </a:solidFill>
          <a:ln/>
        </p:spPr>
      </p:sp>
      <p:sp>
        <p:nvSpPr>
          <p:cNvPr id="23" name="Text 18"/>
          <p:cNvSpPr/>
          <p:nvPr/>
        </p:nvSpPr>
        <p:spPr>
          <a:xfrm>
            <a:off x="2578608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F72"/>
                </a:solidFill>
              </a:rPr>
              <a:t>10  </a:t>
            </a:r>
            <a:r>
              <a:rPr lang="en-US" sz="1000" dirty="0">
                <a:solidFill>
                  <a:srgbClr val="5D6D7E"/>
                </a:solidFill>
              </a:rPr>
              <a:t>Workflow States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4700016" y="466344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EBF5FB"/>
          </a:solidFill>
          <a:ln/>
        </p:spPr>
      </p:sp>
      <p:sp>
        <p:nvSpPr>
          <p:cNvPr id="25" name="Text 20"/>
          <p:cNvSpPr/>
          <p:nvPr/>
        </p:nvSpPr>
        <p:spPr>
          <a:xfrm>
            <a:off x="4700016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F72"/>
                </a:solidFill>
              </a:rPr>
              <a:t>7  </a:t>
            </a:r>
            <a:r>
              <a:rPr lang="en-US" sz="1000" dirty="0">
                <a:solidFill>
                  <a:srgbClr val="5D6D7E"/>
                </a:solidFill>
              </a:rPr>
              <a:t>Controllable Joints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821424" y="466344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EBF5FB"/>
          </a:solidFill>
          <a:ln/>
        </p:spPr>
      </p:sp>
      <p:sp>
        <p:nvSpPr>
          <p:cNvPr id="27" name="Text 22"/>
          <p:cNvSpPr/>
          <p:nvPr/>
        </p:nvSpPr>
        <p:spPr>
          <a:xfrm>
            <a:off x="6821424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F72"/>
                </a:solidFill>
              </a:rPr>
              <a:t>3  </a:t>
            </a:r>
            <a:r>
              <a:rPr lang="en-US" sz="1000" dirty="0">
                <a:solidFill>
                  <a:srgbClr val="5D6D7E"/>
                </a:solidFill>
              </a:rPr>
              <a:t>Sorting Bins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ROS 2 packages, one clean data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07592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4904" y="1143000"/>
            <a:ext cx="54864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1197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robot_description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78408" y="1545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· kinematics · collision geometry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2093976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58568"/>
            <a:ext cx="475488" cy="4754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" y="2093976"/>
            <a:ext cx="54864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9"/>
          <p:cNvSpPr/>
          <p:nvPr/>
        </p:nvSpPr>
        <p:spPr>
          <a:xfrm>
            <a:off x="978408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moveit_config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78408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SRDF · planners · KDL IK · controllers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" y="3044952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9544"/>
            <a:ext cx="475488" cy="47548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74904" y="3044952"/>
            <a:ext cx="54864" cy="82296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8" name="Text 13"/>
          <p:cNvSpPr/>
          <p:nvPr/>
        </p:nvSpPr>
        <p:spPr>
          <a:xfrm>
            <a:off x="978408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workflow_interfaces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78408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BinTarget.msg · ExecuteStage.srv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20040" y="3995928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160520"/>
            <a:ext cx="475488" cy="47548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74904" y="3995928"/>
            <a:ext cx="54864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3" name="Text 17"/>
          <p:cNvSpPr/>
          <p:nvPr/>
        </p:nvSpPr>
        <p:spPr>
          <a:xfrm>
            <a:off x="978408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manipulation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78408" y="4398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execution · planning scene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480560" y="1143000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307592"/>
            <a:ext cx="475488" cy="47548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535424" y="114300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1"/>
          <p:cNvSpPr/>
          <p:nvPr/>
        </p:nvSpPr>
        <p:spPr>
          <a:xfrm>
            <a:off x="5138928" y="1197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138928" y="1545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stream · zbar_ros · normalization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480560" y="2093976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58568"/>
            <a:ext cx="475488" cy="47548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535424" y="2093976"/>
            <a:ext cx="54864" cy="82296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3" name="Text 25"/>
          <p:cNvSpPr/>
          <p:nvPr/>
        </p:nvSpPr>
        <p:spPr>
          <a:xfrm>
            <a:off x="5138928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decision_logic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138928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→ bin routing · pose publication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480560" y="3044952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209544"/>
            <a:ext cx="475488" cy="47548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4535424" y="3044952"/>
            <a:ext cx="54864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8" name="Text 29"/>
          <p:cNvSpPr/>
          <p:nvPr/>
        </p:nvSpPr>
        <p:spPr>
          <a:xfrm>
            <a:off x="5138928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138928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world · attachment helper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4480560" y="3995928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160520"/>
            <a:ext cx="475488" cy="475488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4535424" y="3995928"/>
            <a:ext cx="54864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3" name="Text 33"/>
          <p:cNvSpPr/>
          <p:nvPr/>
        </p:nvSpPr>
        <p:spPr>
          <a:xfrm>
            <a:off x="5138928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bringup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138928" y="4398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launch · coordinator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416052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5D6D7E"/>
                </a:solidFill>
              </a:rPr>
              <a:t>DATA FLOW</a:t>
            </a:r>
            <a:endParaRPr lang="en-US" sz="700" dirty="0"/>
          </a:p>
        </p:txBody>
      </p:sp>
      <p:sp>
        <p:nvSpPr>
          <p:cNvPr id="46" name="Shape 36"/>
          <p:cNvSpPr/>
          <p:nvPr/>
        </p:nvSpPr>
        <p:spPr>
          <a:xfrm>
            <a:off x="4343400" y="1143000"/>
            <a:ext cx="457200" cy="380390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7" name="Text 37"/>
          <p:cNvSpPr/>
          <p:nvPr/>
        </p:nvSpPr>
        <p:spPr>
          <a:xfrm>
            <a:off x="4315968" y="129844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48" name="Text 38"/>
          <p:cNvSpPr/>
          <p:nvPr/>
        </p:nvSpPr>
        <p:spPr>
          <a:xfrm>
            <a:off x="4315968" y="217627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QR</a:t>
            </a:r>
            <a:endParaRPr lang="en-US" sz="800" dirty="0"/>
          </a:p>
        </p:txBody>
      </p:sp>
      <p:sp>
        <p:nvSpPr>
          <p:cNvPr id="49" name="Text 39"/>
          <p:cNvSpPr/>
          <p:nvPr/>
        </p:nvSpPr>
        <p:spPr>
          <a:xfrm>
            <a:off x="4315968" y="30540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Bin</a:t>
            </a:r>
            <a:endParaRPr lang="en-US" sz="800" dirty="0"/>
          </a:p>
        </p:txBody>
      </p:sp>
      <p:sp>
        <p:nvSpPr>
          <p:cNvPr id="50" name="Text 40"/>
          <p:cNvSpPr/>
          <p:nvPr/>
        </p:nvSpPr>
        <p:spPr>
          <a:xfrm>
            <a:off x="4315968" y="393192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 Mechanical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serial manipulator with simplified 1-DOF gripper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420624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382219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4F72"/>
                </a:solidFill>
              </a:rPr>
              <a:t>JOINT CONFIGURATION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536192"/>
            <a:ext cx="4078224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673352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581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shoulder_pan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95728" y="1581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5819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±180°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984248"/>
            <a:ext cx="4078224" cy="420624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121408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0299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shoulder_lift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95728" y="20299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029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−103°/+92°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432304"/>
            <a:ext cx="4078224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569464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4780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95728" y="24780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2478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±120°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2880360"/>
            <a:ext cx="4078224" cy="420624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017520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2926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wrist_pitch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95728" y="2926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2926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±138°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3328416"/>
            <a:ext cx="4078224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465576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3374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wrist_yaw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95728" y="33741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33741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±180°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3776472"/>
            <a:ext cx="4078224" cy="420624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3913632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38221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wrist_roll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95728" y="38221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10128" y="38221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±180°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" y="4224528"/>
            <a:ext cx="4078224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02920" y="4361688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2702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95728" y="4270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Prismatic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10128" y="4270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0–40 mm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111556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1115568"/>
            <a:ext cx="54864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length (nominal)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28032" y="1389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1.28 m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709160" y="174650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1746504"/>
            <a:ext cx="54864" cy="5486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9" name="Text 47"/>
          <p:cNvSpPr/>
          <p:nvPr/>
        </p:nvSpPr>
        <p:spPr>
          <a:xfrm>
            <a:off x="4828032" y="18013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DOF (arm)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28032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revolute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709160" y="23774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2377440"/>
            <a:ext cx="54864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3" name="Text 51"/>
          <p:cNvSpPr/>
          <p:nvPr/>
        </p:nvSpPr>
        <p:spPr>
          <a:xfrm>
            <a:off x="4828032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DOF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28032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prismatic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709160" y="300837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09160" y="3008376"/>
            <a:ext cx="54864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7" name="Text 55"/>
          <p:cNvSpPr/>
          <p:nvPr/>
        </p:nvSpPr>
        <p:spPr>
          <a:xfrm>
            <a:off x="4828032" y="3063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mass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28032" y="32826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18.0 kg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709160" y="363931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09160" y="3639312"/>
            <a:ext cx="54864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1" name="Text 59"/>
          <p:cNvSpPr/>
          <p:nvPr/>
        </p:nvSpPr>
        <p:spPr>
          <a:xfrm>
            <a:off x="4828032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total mass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28032" y="3913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35 kg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709160" y="427024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09160" y="4270248"/>
            <a:ext cx="54864" cy="5486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65" name="Text 63"/>
          <p:cNvSpPr/>
          <p:nvPr/>
        </p:nvSpPr>
        <p:spPr>
          <a:xfrm>
            <a:off x="4828032" y="43251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rate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828032" y="4544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Hz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state machine — 10 stages, one repeatable cycle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70432"/>
            <a:ext cx="804672" cy="804672"/>
          </a:xfrm>
          <a:prstGeom prst="ellipse">
            <a:avLst/>
          </a:prstGeom>
          <a:solidFill>
            <a:srgbClr val="1B4F72">
              <a:alpha val="8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280160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4825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00200" y="1545336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9" name="Text 6"/>
          <p:cNvSpPr/>
          <p:nvPr/>
        </p:nvSpPr>
        <p:spPr>
          <a:xfrm>
            <a:off x="1856232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32304" y="1170432"/>
            <a:ext cx="804672" cy="804672"/>
          </a:xfrm>
          <a:prstGeom prst="ellipse">
            <a:avLst/>
          </a:prstGeom>
          <a:solidFill>
            <a:srgbClr val="2980B9">
              <a:alpha val="85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280160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20824" y="204825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PICK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300984" y="1545336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4" name="Text 10"/>
          <p:cNvSpPr/>
          <p:nvPr/>
        </p:nvSpPr>
        <p:spPr>
          <a:xfrm>
            <a:off x="3557016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33088" y="1170432"/>
            <a:ext cx="804672" cy="804672"/>
          </a:xfrm>
          <a:prstGeom prst="ellipse">
            <a:avLst/>
          </a:prstGeom>
          <a:solidFill>
            <a:srgbClr val="148F77">
              <a:alpha val="85000"/>
            </a:srgb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280160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21608" y="204825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001768" y="1545336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9" name="Text 14"/>
          <p:cNvSpPr/>
          <p:nvPr/>
        </p:nvSpPr>
        <p:spPr>
          <a:xfrm>
            <a:off x="5257800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833872" y="1170432"/>
            <a:ext cx="804672" cy="804672"/>
          </a:xfrm>
          <a:prstGeom prst="ellipse">
            <a:avLst/>
          </a:prstGeom>
          <a:solidFill>
            <a:srgbClr val="148F77">
              <a:alpha val="85000"/>
            </a:srgbClr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280160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2392" y="204825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6702552" y="1545336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4" name="Text 18"/>
          <p:cNvSpPr/>
          <p:nvPr/>
        </p:nvSpPr>
        <p:spPr>
          <a:xfrm>
            <a:off x="6958584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534656" y="1170432"/>
            <a:ext cx="804672" cy="804672"/>
          </a:xfrm>
          <a:prstGeom prst="ellipse">
            <a:avLst/>
          </a:prstGeom>
          <a:solidFill>
            <a:srgbClr val="2980B9">
              <a:alpha val="85000"/>
            </a:srgbClr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384" y="1280160"/>
            <a:ext cx="585216" cy="585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23176" y="204825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SCAN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462272" y="2423160"/>
            <a:ext cx="54864" cy="36576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9" name="Text 22"/>
          <p:cNvSpPr/>
          <p:nvPr/>
        </p:nvSpPr>
        <p:spPr>
          <a:xfrm>
            <a:off x="4407408" y="26974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534656" y="2944368"/>
            <a:ext cx="804672" cy="804672"/>
          </a:xfrm>
          <a:prstGeom prst="ellipse">
            <a:avLst/>
          </a:prstGeom>
          <a:solidFill>
            <a:srgbClr val="1B4F72">
              <a:alpha val="85000"/>
            </a:srgbClr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4384" y="3054096"/>
            <a:ext cx="585216" cy="5852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23176" y="382219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HOME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6766560" y="3319272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34" name="Text 26"/>
          <p:cNvSpPr/>
          <p:nvPr/>
        </p:nvSpPr>
        <p:spPr>
          <a:xfrm>
            <a:off x="6720840" y="32186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◀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833872" y="2944368"/>
            <a:ext cx="804672" cy="804672"/>
          </a:xfrm>
          <a:prstGeom prst="ellipse">
            <a:avLst/>
          </a:prstGeom>
          <a:solidFill>
            <a:srgbClr val="148F77">
              <a:alpha val="85000"/>
            </a:srgbClr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3054096"/>
            <a:ext cx="585216" cy="58521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22392" y="382219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5065776" y="3319272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39" name="Text 30"/>
          <p:cNvSpPr/>
          <p:nvPr/>
        </p:nvSpPr>
        <p:spPr>
          <a:xfrm>
            <a:off x="5020056" y="32186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◀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133088" y="2944368"/>
            <a:ext cx="804672" cy="804672"/>
          </a:xfrm>
          <a:prstGeom prst="ellipse">
            <a:avLst/>
          </a:prstGeom>
          <a:solidFill>
            <a:srgbClr val="2980B9">
              <a:alpha val="85000"/>
            </a:srgbClr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054096"/>
            <a:ext cx="585216" cy="58521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721608" y="382219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PLACE</a:t>
            </a:r>
            <a:endParaRPr lang="en-US" sz="850" dirty="0"/>
          </a:p>
        </p:txBody>
      </p:sp>
      <p:sp>
        <p:nvSpPr>
          <p:cNvPr id="43" name="Shape 33"/>
          <p:cNvSpPr/>
          <p:nvPr/>
        </p:nvSpPr>
        <p:spPr>
          <a:xfrm>
            <a:off x="3364992" y="3319272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44" name="Text 34"/>
          <p:cNvSpPr/>
          <p:nvPr/>
        </p:nvSpPr>
        <p:spPr>
          <a:xfrm>
            <a:off x="3319272" y="32186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◀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2432304" y="2944368"/>
            <a:ext cx="804672" cy="804672"/>
          </a:xfrm>
          <a:prstGeom prst="ellipse">
            <a:avLst/>
          </a:prstGeom>
          <a:solidFill>
            <a:srgbClr val="E67E22">
              <a:alpha val="85000"/>
            </a:srgbClr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2032" y="3054096"/>
            <a:ext cx="585216" cy="58521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2020824" y="382219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BIN</a:t>
            </a:r>
            <a:endParaRPr lang="en-US" sz="850" dirty="0"/>
          </a:p>
        </p:txBody>
      </p:sp>
      <p:sp>
        <p:nvSpPr>
          <p:cNvPr id="48" name="Shape 37"/>
          <p:cNvSpPr/>
          <p:nvPr/>
        </p:nvSpPr>
        <p:spPr>
          <a:xfrm>
            <a:off x="1664208" y="3319272"/>
            <a:ext cx="32004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49" name="Text 38"/>
          <p:cNvSpPr/>
          <p:nvPr/>
        </p:nvSpPr>
        <p:spPr>
          <a:xfrm>
            <a:off x="1618488" y="32186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◀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31520" y="2944368"/>
            <a:ext cx="804672" cy="804672"/>
          </a:xfrm>
          <a:prstGeom prst="ellipse">
            <a:avLst/>
          </a:prstGeom>
          <a:solidFill>
            <a:srgbClr val="E67E22">
              <a:alpha val="85000"/>
            </a:srgbClr>
          </a:solidFill>
          <a:ln/>
        </p:spPr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" y="3054096"/>
            <a:ext cx="585216" cy="585216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320040" y="382219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QR</a:t>
            </a:r>
            <a:endParaRPr lang="en-US" sz="850" dirty="0"/>
          </a:p>
        </p:txBody>
      </p:sp>
      <p:sp>
        <p:nvSpPr>
          <p:cNvPr id="53" name="Text 41"/>
          <p:cNvSpPr/>
          <p:nvPr/>
        </p:nvSpPr>
        <p:spPr>
          <a:xfrm>
            <a:off x="320040" y="42245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loops back to IDLE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 Planning &amp; Kinematics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with OMPL · KDL numerical IK · multi-layer fallback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292608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382219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8F77"/>
                </a:solidFill>
              </a:rPr>
              <a:t>FORWARD KINEMATICS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T_world_tool0(q) =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828800"/>
            <a:ext cx="2788920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Tz(0.80) · Rz(q₁)   ← base lift + yaw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" y="2231136"/>
            <a:ext cx="2788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2311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Tx(0.08) · Ry(q₂)   ← shoulder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" y="2633472"/>
            <a:ext cx="2788920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633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Tx(0.36) · Ry(q₃)   ← elbow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" y="3035808"/>
            <a:ext cx="2788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035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Tx(0.32) · Ry(q₄)   ← wrist pitch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" y="3438144"/>
            <a:ext cx="2788920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4381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Tx(0.16) · Rz(q₅)   ← wrist yaw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" y="3840480"/>
            <a:ext cx="2788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840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Tx(0.12) · Rx(q₆)   ← wrist roll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" y="4242816"/>
            <a:ext cx="2788920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4242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Tx(0.24)             ← tool offset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1115568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1115568"/>
            <a:ext cx="54864" cy="17373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12070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4F72"/>
                </a:solidFill>
              </a:rPr>
              <a:t>INVERSE KINEMATICS  ·  KDL Solver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1499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KDLKinematicsPlugin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 rad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s per attempt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(then fallback)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2944368"/>
            <a:ext cx="5394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000" y="2944368"/>
            <a:ext cx="54864" cy="19933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0358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7E22"/>
                </a:solidFill>
              </a:rPr>
              <a:t>MULTI-LAYER FALLBACK STRATEGY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66160" y="333756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05072" y="3337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SRDF joint state (no IK needed)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66160" y="365760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36576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05072" y="3657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6D pose target — setPoseTarget()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6160" y="397764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005072" y="3977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Position-only — setPositionTarget()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66160" y="429768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47" name="Text 45"/>
          <p:cNvSpPr/>
          <p:nvPr/>
        </p:nvSpPr>
        <p:spPr>
          <a:xfrm>
            <a:off x="3566160" y="4297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05072" y="4297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path — computeCartesianPath()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6160" y="461772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50" name="Text 48"/>
          <p:cNvSpPr/>
          <p:nvPr/>
        </p:nvSpPr>
        <p:spPr>
          <a:xfrm>
            <a:off x="3566160" y="4617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5th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005072" y="4617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 posture (accepted on timeout)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Perception &amp; Decision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pixel to bin — QR decoding and routing in three steps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115568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54864" cy="22860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1280160"/>
            <a:ext cx="777240" cy="777240"/>
          </a:xfrm>
          <a:prstGeom prst="ellipse">
            <a:avLst/>
          </a:prstGeom>
          <a:solidFill>
            <a:srgbClr val="2980B9">
              <a:alpha val="82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89888"/>
            <a:ext cx="557784" cy="557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Scan-Station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2679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/scan_station_camera/image_raw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313432" y="1627632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523744" y="1115568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23744" y="1115568"/>
            <a:ext cx="54864" cy="2286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Shape 11"/>
          <p:cNvSpPr/>
          <p:nvPr/>
        </p:nvSpPr>
        <p:spPr>
          <a:xfrm>
            <a:off x="3118104" y="1280160"/>
            <a:ext cx="777240" cy="777240"/>
          </a:xfrm>
          <a:prstGeom prst="ellipse">
            <a:avLst/>
          </a:prstGeom>
          <a:solidFill>
            <a:srgbClr val="E67E22">
              <a:alpha val="82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389888"/>
            <a:ext cx="557784" cy="5577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15184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zbar_ros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15184" y="2679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/barcode  →  raw text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489704" y="1627632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700016" y="1115568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00016" y="1115568"/>
            <a:ext cx="54864" cy="22860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1" name="Shape 17"/>
          <p:cNvSpPr/>
          <p:nvPr/>
        </p:nvSpPr>
        <p:spPr>
          <a:xfrm>
            <a:off x="5294376" y="1280160"/>
            <a:ext cx="777240" cy="777240"/>
          </a:xfrm>
          <a:prstGeom prst="ellipse">
            <a:avLst/>
          </a:prstGeom>
          <a:solidFill>
            <a:srgbClr val="148F77">
              <a:alpha val="82000"/>
            </a:srgb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389888"/>
            <a:ext cx="557784" cy="5577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91456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Node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Normalizer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91456" y="2679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/perception/decoded_qr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665976" y="1627632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6876288" y="1115568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876288" y="1115568"/>
            <a:ext cx="54864" cy="2286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8" name="Shape 23"/>
          <p:cNvSpPr/>
          <p:nvPr/>
        </p:nvSpPr>
        <p:spPr>
          <a:xfrm>
            <a:off x="7470648" y="1280160"/>
            <a:ext cx="777240" cy="777240"/>
          </a:xfrm>
          <a:prstGeom prst="ellipse">
            <a:avLst/>
          </a:prstGeom>
          <a:solidFill>
            <a:srgbClr val="1B4F72">
              <a:alpha val="82000"/>
            </a:srgbClr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1389888"/>
            <a:ext cx="557784" cy="5577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7728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Node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967728" y="2679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/decision_logic/bin_target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347472" y="3566160"/>
            <a:ext cx="8449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47472" y="3566160"/>
            <a:ext cx="54864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28"/>
          <p:cNvSpPr/>
          <p:nvPr/>
        </p:nvSpPr>
        <p:spPr>
          <a:xfrm>
            <a:off x="502920" y="3675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7E22"/>
                </a:solidFill>
              </a:rPr>
              <a:t>DEFAULT QR ROUTING MAP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48640" y="397764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E74C3C"/>
          </a:solidFill>
          <a:ln/>
        </p:spPr>
      </p:sp>
      <p:sp>
        <p:nvSpPr>
          <p:cNvPr id="36" name="Text 30"/>
          <p:cNvSpPr/>
          <p:nvPr/>
        </p:nvSpPr>
        <p:spPr>
          <a:xfrm>
            <a:off x="548640" y="39776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280160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bin_a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920240" y="39867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(0.62, 0.55, 1.18)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291840" y="397764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2980B9"/>
          </a:solidFill>
          <a:ln/>
        </p:spPr>
      </p:sp>
      <p:sp>
        <p:nvSpPr>
          <p:cNvPr id="40" name="Text 34"/>
          <p:cNvSpPr/>
          <p:nvPr/>
        </p:nvSpPr>
        <p:spPr>
          <a:xfrm>
            <a:off x="3291840" y="39776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BLUE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023360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bin_b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700016" y="39867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(0.82, 0.55, 1.18)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035040" y="397764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/>
        </p:spPr>
      </p:sp>
      <p:sp>
        <p:nvSpPr>
          <p:cNvPr id="44" name="Text 38"/>
          <p:cNvSpPr/>
          <p:nvPr/>
        </p:nvSpPr>
        <p:spPr>
          <a:xfrm>
            <a:off x="6035040" y="39776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GREEN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6766560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bin_c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7401464" y="3986784"/>
            <a:ext cx="130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(1.02, 0.55, 1.18)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ROS 2 Infrastructure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· Services · Actions — the communication backbone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27432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3822192"/>
          </a:xfrm>
          <a:prstGeom prst="rect">
            <a:avLst/>
          </a:prstGeom>
          <a:solidFill>
            <a:srgbClr val="1B4F7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252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252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 (Pub/Sub)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02336" y="1664208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" y="1664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/barcode  →  std_msgs/String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02336" y="2066544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48056" y="20665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/perception/decoded_qr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02336" y="2468880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" y="2468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/decision_logic/bin_target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02336" y="2871216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" y="28712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/coordinator/state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2336" y="3273552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" y="32735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/manipulation/status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02336" y="3675888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48056" y="36758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/demo_qr/image_raw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02336" y="4078224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2" name="Text 19"/>
          <p:cNvSpPr/>
          <p:nvPr/>
        </p:nvSpPr>
        <p:spPr>
          <a:xfrm>
            <a:off x="448056" y="40782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/scan_station_camera/image_raw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02336" y="4480560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48056" y="4480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/wrist_camera/image_raw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91840" y="1115568"/>
            <a:ext cx="27432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91840" y="1115568"/>
            <a:ext cx="54864" cy="3822192"/>
          </a:xfrm>
          <a:prstGeom prst="rect">
            <a:avLst/>
          </a:prstGeom>
          <a:solidFill>
            <a:srgbClr val="148F77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225296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840480" y="12252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(Req/Resp)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374136" y="1664208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0" name="Text 26"/>
          <p:cNvSpPr/>
          <p:nvPr/>
        </p:nvSpPr>
        <p:spPr>
          <a:xfrm>
            <a:off x="3419856" y="1664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/manipulation/execute_stage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374136" y="2066544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3602736" y="20665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ExecuteStage.srv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3374136" y="2468880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4" name="Text 30"/>
          <p:cNvSpPr/>
          <p:nvPr/>
        </p:nvSpPr>
        <p:spPr>
          <a:xfrm>
            <a:off x="3419856" y="2468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/simulation/set_attachment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374136" y="2871216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2"/>
          <p:cNvSpPr/>
          <p:nvPr/>
        </p:nvSpPr>
        <p:spPr>
          <a:xfrm>
            <a:off x="3602736" y="28712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std_srvs/SetBool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374136" y="3273552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8" name="Text 34"/>
          <p:cNvSpPr/>
          <p:nvPr/>
        </p:nvSpPr>
        <p:spPr>
          <a:xfrm>
            <a:off x="3419856" y="32735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/simulation/reset_object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374136" y="3675888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6"/>
          <p:cNvSpPr/>
          <p:nvPr/>
        </p:nvSpPr>
        <p:spPr>
          <a:xfrm>
            <a:off x="3602736" y="36758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std_srvs/Trigger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3374136" y="4078224"/>
            <a:ext cx="257860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2" name="Text 38"/>
          <p:cNvSpPr/>
          <p:nvPr/>
        </p:nvSpPr>
        <p:spPr>
          <a:xfrm>
            <a:off x="3419856" y="40782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/coordinator/start_cycle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374136" y="4480560"/>
            <a:ext cx="257860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0"/>
          <p:cNvSpPr/>
          <p:nvPr/>
        </p:nvSpPr>
        <p:spPr>
          <a:xfrm>
            <a:off x="3602736" y="4480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std_srvs/Trigger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6263640" y="1115568"/>
            <a:ext cx="246888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6263640" y="1115568"/>
            <a:ext cx="54864" cy="382219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225296"/>
            <a:ext cx="384048" cy="38404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812280" y="12252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 (Goal/Result)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6345936" y="1664208"/>
            <a:ext cx="230428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0" name="Text 45"/>
          <p:cNvSpPr/>
          <p:nvPr/>
        </p:nvSpPr>
        <p:spPr>
          <a:xfrm>
            <a:off x="6391656" y="16642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/arm_controller/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6345936" y="2066544"/>
            <a:ext cx="230428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7"/>
          <p:cNvSpPr/>
          <p:nvPr/>
        </p:nvSpPr>
        <p:spPr>
          <a:xfrm>
            <a:off x="6574536" y="20665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follow_joint_trajectory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6345936" y="2468880"/>
            <a:ext cx="230428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4" name="Text 49"/>
          <p:cNvSpPr/>
          <p:nvPr/>
        </p:nvSpPr>
        <p:spPr>
          <a:xfrm>
            <a:off x="6391656" y="24688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6345936" y="2871216"/>
            <a:ext cx="230428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1"/>
          <p:cNvSpPr/>
          <p:nvPr/>
        </p:nvSpPr>
        <p:spPr>
          <a:xfrm>
            <a:off x="6391656" y="28712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/gripper_controller/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6345936" y="3273552"/>
            <a:ext cx="230428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8" name="Text 53"/>
          <p:cNvSpPr/>
          <p:nvPr/>
        </p:nvSpPr>
        <p:spPr>
          <a:xfrm>
            <a:off x="6574536" y="32735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follow_joint_trajectory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6345936" y="3675888"/>
            <a:ext cx="230428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5"/>
          <p:cNvSpPr/>
          <p:nvPr/>
        </p:nvSpPr>
        <p:spPr>
          <a:xfrm>
            <a:off x="6391656" y="36758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6345936" y="4078224"/>
            <a:ext cx="2304288" cy="38404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2" name="Text 57"/>
          <p:cNvSpPr/>
          <p:nvPr/>
        </p:nvSpPr>
        <p:spPr>
          <a:xfrm>
            <a:off x="6391656" y="40782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JointTrajectoryController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6345936" y="4480560"/>
            <a:ext cx="230428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59"/>
          <p:cNvSpPr/>
          <p:nvPr/>
        </p:nvSpPr>
        <p:spPr>
          <a:xfrm>
            <a:off x="6391656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 100 Hz update rate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Gazebo Simulation Environment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sorting cell — pick table · scan pedestal · bin rack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4846320" cy="3822192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822960" cy="8229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ROBOT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BASE</a:t>
            </a:r>
            <a:endParaRPr lang="en-US" sz="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68880"/>
            <a:ext cx="768096" cy="7680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37360" y="1737360"/>
            <a:ext cx="1371600" cy="640080"/>
          </a:xfrm>
          <a:prstGeom prst="rect">
            <a:avLst/>
          </a:prstGeom>
          <a:solidFill>
            <a:srgbClr val="2980B9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73736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PICK TABLE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(0.72, 0.00)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48840" y="14173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QR OBJ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371600" y="2999232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148F7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29992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SCAN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PEDESTAL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(0.40, −0.48)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91840" y="2286000"/>
            <a:ext cx="1645920" cy="457200"/>
          </a:xfrm>
          <a:prstGeom prst="rect">
            <a:avLst/>
          </a:prstGeom>
          <a:solidFill>
            <a:srgbClr val="2C3E5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9184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BIN RACK  (0.82, 0.55)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337560" y="28163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Bin A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867912" y="28163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980B9"/>
          </a:solidFill>
          <a:ln/>
        </p:spPr>
      </p:sp>
      <p:sp>
        <p:nvSpPr>
          <p:cNvPr id="20" name="Text 17"/>
          <p:cNvSpPr/>
          <p:nvPr/>
        </p:nvSpPr>
        <p:spPr>
          <a:xfrm>
            <a:off x="386791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Bin B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98264" y="28163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4398264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Bin C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20040" y="47823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D6D7E"/>
                </a:solidFill>
              </a:rPr>
              <a:t>↑ Schematic top-down layout (not to scale)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349240" y="1115568"/>
            <a:ext cx="345643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49240" y="1115568"/>
            <a:ext cx="54864" cy="382219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0" y="12070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C3E50"/>
                </a:solidFill>
              </a:rPr>
              <a:t>WORLD POSES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13248" y="1536192"/>
            <a:ext cx="33284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5458968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table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720840" y="1554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(0.72, 0.00, 0)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909560" y="1554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z_top = 0.75 m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413248" y="1984248"/>
            <a:ext cx="3328416" cy="420624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2" name="Text 29"/>
          <p:cNvSpPr/>
          <p:nvPr/>
        </p:nvSpPr>
        <p:spPr>
          <a:xfrm>
            <a:off x="5458968" y="20025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pedestal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720840" y="2002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(0.40, −0.48, 0)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909560" y="20025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413248" y="2432304"/>
            <a:ext cx="33284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5458968" y="2450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rack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720840" y="24505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(0.82, 0.55, 0)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90956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13248" y="2880360"/>
            <a:ext cx="3328416" cy="420624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0" name="Text 37"/>
          <p:cNvSpPr/>
          <p:nvPr/>
        </p:nvSpPr>
        <p:spPr>
          <a:xfrm>
            <a:off x="5458968" y="28986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A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720840" y="28986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(0.62, 0.55, 0.75)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909560" y="28986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payload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413248" y="3328416"/>
            <a:ext cx="33284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5458968" y="33467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B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720840" y="3346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(0.82, 0.55, 0.75)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909560" y="3346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payload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413248" y="3776472"/>
            <a:ext cx="3328416" cy="420624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8" name="Text 45"/>
          <p:cNvSpPr/>
          <p:nvPr/>
        </p:nvSpPr>
        <p:spPr>
          <a:xfrm>
            <a:off x="5458968" y="3794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720840" y="3794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(1.02, 0.55, 0.75)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7909560" y="3794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payload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413248" y="4224528"/>
            <a:ext cx="33284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5458968" y="4242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object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720840" y="42428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(0.72, 0.00, 0.825)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909560" y="42428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off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trade-offs made to focus on system integration and workflow validation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7373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2070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online localization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" y="171907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pick and placement positions are pre-measured. The system cannot adapt if the object or bin moves.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115568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115568"/>
            <a:ext cx="54864" cy="173736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4358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2070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Simulated grasping only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92424" y="171907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follows tool0 via TF — no contact physics, no force feedback, no grasp quality check.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08776" y="1115568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08776" y="1115568"/>
            <a:ext cx="54864" cy="17373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243584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0568" y="12070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force / tactile sensing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336792" y="171907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failures are invisible. A missed pick cannot be detected or recovered automatically.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035808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035808"/>
            <a:ext cx="54864" cy="173736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163824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" y="31272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 IK — no closed-form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48056" y="363931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KDL may fail near singularities or joint limits. Convergence is not guaranteed.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64408" y="3035808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64408" y="3035808"/>
            <a:ext cx="54864" cy="17373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163824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1272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planning scene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392424" y="363931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is unaware of any obstacle not placed at startup. No dynamic obstacle handling.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08776" y="3035808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08776" y="3035808"/>
            <a:ext cx="54864" cy="17373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163824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30568" y="31272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Idealized QR perception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336792" y="363931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 uses a synthetic image. Real cameras introduce blur, lighting noise, and partial occlusion.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20040" y="4754880"/>
            <a:ext cx="8503920" cy="256032"/>
          </a:xfrm>
          <a:prstGeom prst="roundRect">
            <a:avLst>
              <a:gd name="adj" fmla="val 25000"/>
            </a:avLst>
          </a:prstGeom>
          <a:solidFill>
            <a:srgbClr val="EBF5FB"/>
          </a:solidFill>
          <a:ln/>
        </p:spPr>
      </p:sp>
      <p:sp>
        <p:nvSpPr>
          <p:cNvPr id="36" name="Text 28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deliberate trade-offs for a teaching platform — not bugs. Each one defines a clear path for the next iteration.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Future Improvements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maps directly to a concrete next step — no architectural redesign needed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7899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4864" cy="1783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611" y="1207008"/>
            <a:ext cx="621792" cy="621792"/>
          </a:xfrm>
          <a:prstGeom prst="ellipse">
            <a:avLst/>
          </a:prstGeom>
          <a:solidFill>
            <a:srgbClr val="2980B9">
              <a:alpha val="82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339" y="131673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901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Perception-based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 estimation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camera / point cloud → remove fixed pick positions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68880" y="107899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078992"/>
            <a:ext cx="54864" cy="17830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3" name="Shape 10"/>
          <p:cNvSpPr/>
          <p:nvPr/>
        </p:nvSpPr>
        <p:spPr>
          <a:xfrm>
            <a:off x="3182451" y="1207008"/>
            <a:ext cx="621792" cy="621792"/>
          </a:xfrm>
          <a:prstGeom prst="ellipse">
            <a:avLst/>
          </a:prstGeom>
          <a:solidFill>
            <a:srgbClr val="148F77">
              <a:alpha val="82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179" y="1316736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1901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Contact-aware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grasping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60320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grasp plugin → real force &amp; slip detection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17720" y="107899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078992"/>
            <a:ext cx="54864" cy="1783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Shape 15"/>
          <p:cNvSpPr/>
          <p:nvPr/>
        </p:nvSpPr>
        <p:spPr>
          <a:xfrm>
            <a:off x="5331291" y="1207008"/>
            <a:ext cx="621792" cy="621792"/>
          </a:xfrm>
          <a:prstGeom prst="ellipse">
            <a:avLst/>
          </a:prstGeom>
          <a:solidFill>
            <a:srgbClr val="E67E22">
              <a:alpha val="82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1019" y="131673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9160" y="1901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 solver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09160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IK → eliminate KDL timeout &amp; singularity failures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766560" y="107899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1078992"/>
            <a:ext cx="54864" cy="1783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5" name="Shape 20"/>
          <p:cNvSpPr/>
          <p:nvPr/>
        </p:nvSpPr>
        <p:spPr>
          <a:xfrm>
            <a:off x="7480131" y="1207008"/>
            <a:ext cx="621792" cy="621792"/>
          </a:xfrm>
          <a:prstGeom prst="ellipse">
            <a:avLst/>
          </a:prstGeom>
          <a:solidFill>
            <a:srgbClr val="1B4F72">
              <a:alpha val="82000"/>
            </a:srgbClr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859" y="1316736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1901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obstacle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858000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scene updates from sensors → moving obstacles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0040" y="299923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" y="2999232"/>
            <a:ext cx="54864" cy="17830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1" name="Shape 25"/>
          <p:cNvSpPr/>
          <p:nvPr/>
        </p:nvSpPr>
        <p:spPr>
          <a:xfrm>
            <a:off x="1050865" y="3127248"/>
            <a:ext cx="621792" cy="621792"/>
          </a:xfrm>
          <a:prstGeom prst="ellipse">
            <a:avLst/>
          </a:prstGeom>
          <a:solidFill>
            <a:srgbClr val="148F77">
              <a:alpha val="82000"/>
            </a:srgbClr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593" y="3236976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148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Coordinator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 recovery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11480" y="4325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&amp; recovery policies → no manual restart on failure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468880" y="299923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468880" y="2999232"/>
            <a:ext cx="54864" cy="1783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7" name="Shape 30"/>
          <p:cNvSpPr/>
          <p:nvPr/>
        </p:nvSpPr>
        <p:spPr>
          <a:xfrm>
            <a:off x="3199705" y="3127248"/>
            <a:ext cx="621792" cy="621792"/>
          </a:xfrm>
          <a:prstGeom prst="ellipse">
            <a:avLst/>
          </a:prstGeom>
          <a:solidFill>
            <a:srgbClr val="2980B9">
              <a:alpha val="82000"/>
            </a:srgbClr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9433" y="3236976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56032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scene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fidelity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2560320" y="4325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MoveIt geometry to Gazebo within centimetres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4617720" y="299923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617720" y="2999232"/>
            <a:ext cx="54864" cy="1783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Shape 35"/>
          <p:cNvSpPr/>
          <p:nvPr/>
        </p:nvSpPr>
        <p:spPr>
          <a:xfrm>
            <a:off x="5348545" y="3127248"/>
            <a:ext cx="621792" cy="621792"/>
          </a:xfrm>
          <a:prstGeom prst="ellipse">
            <a:avLst/>
          </a:prstGeom>
          <a:solidFill>
            <a:srgbClr val="E67E22">
              <a:alpha val="82000"/>
            </a:srgbClr>
          </a:solidFill>
          <a:ln/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8273" y="3236976"/>
            <a:ext cx="402336" cy="40233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70916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performance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4709160" y="4325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time · success rate · execution time per stage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6766560" y="2999232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766560" y="2999232"/>
            <a:ext cx="54864" cy="1783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9" name="Shape 40"/>
          <p:cNvSpPr/>
          <p:nvPr/>
        </p:nvSpPr>
        <p:spPr>
          <a:xfrm>
            <a:off x="7497385" y="3127248"/>
            <a:ext cx="621792" cy="621792"/>
          </a:xfrm>
          <a:prstGeom prst="ellipse">
            <a:avLst/>
          </a:prstGeom>
          <a:solidFill>
            <a:srgbClr val="1B4F72">
              <a:alpha val="82000"/>
            </a:srgbClr>
          </a:solidFill>
          <a:ln/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113" y="3236976"/>
            <a:ext cx="402336" cy="40233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85800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Conveyor &amp;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multi-object support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6858000" y="4325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conveyor + object sequences → real industrial throughput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320040" y="4809744"/>
            <a:ext cx="8503920" cy="219456"/>
          </a:xfrm>
          <a:prstGeom prst="roundRect">
            <a:avLst>
              <a:gd name="adj" fmla="val 25000"/>
            </a:avLst>
          </a:prstGeom>
          <a:solidFill>
            <a:srgbClr val="EBF5FB"/>
          </a:solidFill>
          <a:ln/>
        </p:spPr>
      </p:sp>
      <p:sp>
        <p:nvSpPr>
          <p:cNvPr id="54" name="Text 44"/>
          <p:cNvSpPr/>
          <p:nvPr/>
        </p:nvSpPr>
        <p:spPr>
          <a:xfrm>
            <a:off x="320040" y="4809744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package separation means each module can be upgraded independently — no full redesign required.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Demo — What You Will See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autonomous cycle running in Gazebo Classic + RViz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2286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8485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97864"/>
            <a:ext cx="530352" cy="530352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97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Launch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63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bringup launches Gazebo, RViz, MoveIt, controllers, perception, and coordinator in one command.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32520" y="1115568"/>
            <a:ext cx="73152" cy="69494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83664"/>
            <a:ext cx="8485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965960"/>
            <a:ext cx="530352" cy="53035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1956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Phase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2311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moves to pre_grasp, descends to the fixture, closes gripper, attaches the QR object, and lifts clear.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32520" y="1883664"/>
            <a:ext cx="73152" cy="69494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651760"/>
            <a:ext cx="8485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734056"/>
            <a:ext cx="530352" cy="53035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734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Phase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29992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carries the object through transit to the scan station. zbar_ros decodes the QR payload in real time.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32520" y="2651760"/>
            <a:ext cx="73152" cy="694944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419856"/>
            <a:ext cx="8485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502152"/>
            <a:ext cx="530352" cy="53035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5021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4128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 &amp; Place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37673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node maps the payload to a bin pose. Arm rises, translates above the bin via Cartesian path, and releases.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32520" y="3419856"/>
            <a:ext cx="73152" cy="6949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187952"/>
            <a:ext cx="8485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4270248"/>
            <a:ext cx="530352" cy="530352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4270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4261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Home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45354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retreats through staged fallbacks to the home configuration. Coordinator resets and the cycle repeats.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32520" y="4187952"/>
            <a:ext cx="73152" cy="69494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4800600"/>
            <a:ext cx="8485632" cy="228600"/>
          </a:xfrm>
          <a:prstGeom prst="roundRect">
            <a:avLst>
              <a:gd name="adj" fmla="val 20000"/>
            </a:avLst>
          </a:prstGeom>
          <a:solidFill>
            <a:srgbClr val="1B4F72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800600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System Functionality 35%   ✓ ROS 2 Architecture 20%   ✓ Motion Planning 15%   ✓ QR Scanning 10%   ✓ Code Quality 10%   ✓ Report 10%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09728" cy="5143500"/>
          </a:xfrm>
          <a:prstGeom prst="rect">
            <a:avLst/>
          </a:prstGeom>
          <a:solidFill>
            <a:srgbClr val="148F7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28600" y="2834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!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520440" y="6400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project demonstrates: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07008"/>
            <a:ext cx="420624" cy="420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023360" y="1115568"/>
            <a:ext cx="45720" cy="5943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6"/>
          <p:cNvSpPr/>
          <p:nvPr/>
        </p:nvSpPr>
        <p:spPr>
          <a:xfrm>
            <a:off x="4169664" y="12070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URDF/Xacro modelling with ros2_control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1837944"/>
            <a:ext cx="420624" cy="42062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023360" y="1746504"/>
            <a:ext cx="45720" cy="5943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8"/>
          <p:cNvSpPr/>
          <p:nvPr/>
        </p:nvSpPr>
        <p:spPr>
          <a:xfrm>
            <a:off x="4169664" y="183794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ROS 2 topic / service / action architecture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468880"/>
            <a:ext cx="420624" cy="42062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023360" y="2377440"/>
            <a:ext cx="45720" cy="59436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6" name="Text 10"/>
          <p:cNvSpPr/>
          <p:nvPr/>
        </p:nvSpPr>
        <p:spPr>
          <a:xfrm>
            <a:off x="4169664" y="24688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planning with multi-layer IK fallbacks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099816"/>
            <a:ext cx="420624" cy="42062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023360" y="3008376"/>
            <a:ext cx="4572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2"/>
          <p:cNvSpPr/>
          <p:nvPr/>
        </p:nvSpPr>
        <p:spPr>
          <a:xfrm>
            <a:off x="4169664" y="309981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zbar_ros QR pipeline driving autonomous decisions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3730752"/>
            <a:ext cx="420624" cy="42062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023360" y="3639312"/>
            <a:ext cx="45720" cy="5943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14"/>
          <p:cNvSpPr/>
          <p:nvPr/>
        </p:nvSpPr>
        <p:spPr>
          <a:xfrm>
            <a:off x="4169664" y="37307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coordinator orchestrating all stages</a:t>
            </a:r>
            <a:endParaRPr lang="en-US" sz="11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361688"/>
            <a:ext cx="420624" cy="42062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023360" y="4270248"/>
            <a:ext cx="45720" cy="59436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5" name="Text 16"/>
          <p:cNvSpPr/>
          <p:nvPr/>
        </p:nvSpPr>
        <p:spPr>
          <a:xfrm>
            <a:off x="4169664" y="43616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simulation in Gazebo + RViz visualization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3520440" y="4773168"/>
            <a:ext cx="5285232" cy="256032"/>
          </a:xfrm>
          <a:prstGeom prst="roundRect">
            <a:avLst>
              <a:gd name="adj" fmla="val 25000"/>
            </a:avLst>
          </a:prstGeom>
          <a:solidFill>
            <a:srgbClr val="EBF5FB"/>
          </a:solidFill>
          <a:ln/>
        </p:spPr>
      </p:sp>
      <p:sp>
        <p:nvSpPr>
          <p:cNvPr id="27" name="Text 18"/>
          <p:cNvSpPr/>
          <p:nvPr/>
        </p:nvSpPr>
        <p:spPr>
          <a:xfrm>
            <a:off x="3520440" y="477316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MAI605 · Robotic Systems (ROS2)  · Robotics 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1750</Words>
  <Application>Microsoft Office PowerPoint</Application>
  <PresentationFormat>On-screen Show (16:9)</PresentationFormat>
  <Paragraphs>344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MAI605 – ROS2 Robot Pick-Scan-Place</dc:title>
  <dc:subject>PptxGenJS Presentation</dc:subject>
  <dc:creator>PptxGenJS</dc:creator>
  <cp:lastModifiedBy>Maitha</cp:lastModifiedBy>
  <cp:revision>2</cp:revision>
  <dcterms:created xsi:type="dcterms:W3CDTF">2026-05-04T18:09:27Z</dcterms:created>
  <dcterms:modified xsi:type="dcterms:W3CDTF">2026-05-04T18:22:39Z</dcterms:modified>
</cp:coreProperties>
</file>